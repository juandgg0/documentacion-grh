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embeddedFontLst>
    <p:embeddedFont>
      <p:font typeface="Century Gothic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jOkxMYVTI87/+uiY/wgRmjD2SY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enturyGothic-bold.fntdata"/><Relationship Id="rId12" Type="http://schemas.openxmlformats.org/officeDocument/2006/relationships/font" Target="fonts/CenturyGothic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enturyGothic-boldItalic.fntdata"/><Relationship Id="rId14" Type="http://schemas.openxmlformats.org/officeDocument/2006/relationships/font" Target="fonts/CenturyGothic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8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9" name="Google Shape;19;p8"/>
            <p:cNvCxnSpPr/>
            <p:nvPr/>
          </p:nvCxnSpPr>
          <p:spPr>
            <a:xfrm flipH="1">
              <a:off x="6009259" y="1169931"/>
              <a:ext cx="3134741" cy="3134741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" name="Google Shape;20;p8"/>
            <p:cNvCxnSpPr/>
            <p:nvPr/>
          </p:nvCxnSpPr>
          <p:spPr>
            <a:xfrm flipH="1">
              <a:off x="4334933" y="1348898"/>
              <a:ext cx="4814835" cy="4814835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8"/>
            <p:cNvCxnSpPr/>
            <p:nvPr/>
          </p:nvCxnSpPr>
          <p:spPr>
            <a:xfrm flipH="1">
              <a:off x="5225595" y="1469269"/>
              <a:ext cx="3912054" cy="3912054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" name="Google Shape;22;p8"/>
            <p:cNvCxnSpPr/>
            <p:nvPr/>
          </p:nvCxnSpPr>
          <p:spPr>
            <a:xfrm flipH="1">
              <a:off x="5304588" y="1307856"/>
              <a:ext cx="3839412" cy="3839412"/>
            </a:xfrm>
            <a:prstGeom prst="straightConnector1">
              <a:avLst/>
            </a:prstGeom>
            <a:noFill/>
            <a:ln cap="flat" cmpd="sng" w="317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" name="Google Shape;23;p8"/>
            <p:cNvCxnSpPr/>
            <p:nvPr/>
          </p:nvCxnSpPr>
          <p:spPr>
            <a:xfrm flipH="1">
              <a:off x="5707078" y="1770196"/>
              <a:ext cx="3430571" cy="3430570"/>
            </a:xfrm>
            <a:prstGeom prst="straightConnector1">
              <a:avLst/>
            </a:prstGeom>
            <a:noFill/>
            <a:ln cap="flat" cmpd="sng" w="317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" name="Google Shape;24;p8"/>
          <p:cNvSpPr txBox="1"/>
          <p:nvPr>
            <p:ph type="ctrTitle"/>
          </p:nvPr>
        </p:nvSpPr>
        <p:spPr>
          <a:xfrm>
            <a:off x="533400" y="533400"/>
            <a:ext cx="6154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  <a:defRPr sz="4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subTitle"/>
          </p:nvPr>
        </p:nvSpPr>
        <p:spPr>
          <a:xfrm>
            <a:off x="533400" y="3843868"/>
            <a:ext cx="4954250" cy="191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533400" y="533400"/>
            <a:ext cx="6554867" cy="3767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533400" y="1981199"/>
            <a:ext cx="6402468" cy="2319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533400" y="4487333"/>
            <a:ext cx="6402467" cy="1532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533400" y="533400"/>
            <a:ext cx="3949967" cy="3767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4662362" y="533400"/>
            <a:ext cx="3948238" cy="37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762001" y="533400"/>
            <a:ext cx="3716866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92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1" name="Google Shape;51;p12"/>
          <p:cNvSpPr txBox="1"/>
          <p:nvPr>
            <p:ph idx="2" type="body"/>
          </p:nvPr>
        </p:nvSpPr>
        <p:spPr>
          <a:xfrm>
            <a:off x="533399" y="1143000"/>
            <a:ext cx="3945467" cy="3158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3" type="body"/>
          </p:nvPr>
        </p:nvSpPr>
        <p:spPr>
          <a:xfrm>
            <a:off x="4855016" y="566738"/>
            <a:ext cx="376405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92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3" name="Google Shape;53;p12"/>
          <p:cNvSpPr txBox="1"/>
          <p:nvPr>
            <p:ph idx="4" type="body"/>
          </p:nvPr>
        </p:nvSpPr>
        <p:spPr>
          <a:xfrm>
            <a:off x="4662362" y="1143000"/>
            <a:ext cx="3956705" cy="3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5418667" y="533400"/>
            <a:ext cx="3200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533399" y="533400"/>
            <a:ext cx="443875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5418667" y="2209802"/>
            <a:ext cx="3200400" cy="2091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0" name="Google Shape;70;p15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4495800" y="1447800"/>
            <a:ext cx="356325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/>
          <p:nvPr>
            <p:ph idx="2" type="pic"/>
          </p:nvPr>
        </p:nvSpPr>
        <p:spPr>
          <a:xfrm>
            <a:off x="762000" y="914400"/>
            <a:ext cx="3280974" cy="4800600"/>
          </a:xfrm>
          <a:prstGeom prst="snip2DiagRect">
            <a:avLst>
              <a:gd fmla="val 10815" name="adj1"/>
              <a:gd fmla="val 0" name="adj2"/>
            </a:avLst>
          </a:prstGeom>
          <a:noFill/>
          <a:ln cap="flat" cmpd="sng" w="15875">
            <a:solidFill>
              <a:schemeClr val="l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496027" y="2743200"/>
            <a:ext cx="3564223" cy="20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/>
          <p:nvPr>
            <p:ph idx="2" type="pic"/>
          </p:nvPr>
        </p:nvSpPr>
        <p:spPr>
          <a:xfrm>
            <a:off x="533400" y="533400"/>
            <a:ext cx="8077200" cy="3124200"/>
          </a:xfrm>
          <a:prstGeom prst="snip2DiagRect">
            <a:avLst>
              <a:gd fmla="val 10815" name="adj1"/>
              <a:gd fmla="val 0" name="adj2"/>
            </a:avLst>
          </a:prstGeom>
          <a:noFill/>
          <a:ln cap="flat" cmpd="sng" w="15875">
            <a:solidFill>
              <a:schemeClr val="l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762002" y="3843867"/>
            <a:ext cx="72813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80"/>
              <a:buFont typeface="Century Gothic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40"/>
              <a:buFont typeface="Century Gothic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80"/>
              <a:buFont typeface="Century Gothic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533400" y="533400"/>
            <a:ext cx="80772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sz="2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533400" y="4114800"/>
            <a:ext cx="6383552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856283" y="533400"/>
            <a:ext cx="6859787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sz="28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1066800" y="3429000"/>
            <a:ext cx="6402467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40"/>
              <a:buFont typeface="Century Gothic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80"/>
              <a:buFont typeface="Century Gothic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2" type="body"/>
          </p:nvPr>
        </p:nvSpPr>
        <p:spPr>
          <a:xfrm>
            <a:off x="533400" y="4301070"/>
            <a:ext cx="6382361" cy="1718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8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8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533400" y="3429000"/>
            <a:ext cx="6382361" cy="169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sz="2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533400" y="5132980"/>
            <a:ext cx="6383552" cy="886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856284" y="533400"/>
            <a:ext cx="685978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sz="28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533400" y="3886200"/>
            <a:ext cx="6382361" cy="10498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0" sz="2000" cap="none">
                <a:solidFill>
                  <a:schemeClr val="lt1"/>
                </a:solidFill>
              </a:defRPr>
            </a:lvl1pPr>
            <a:lvl2pPr indent="-320040" lvl="1" marL="914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533400" y="4953000"/>
            <a:ext cx="63823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21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15" name="Google Shape;115;p21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8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8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533400" y="533400"/>
            <a:ext cx="7525658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533400" y="3928534"/>
            <a:ext cx="6382361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0" sz="2000" cap="none">
                <a:solidFill>
                  <a:schemeClr val="lt1"/>
                </a:solidFill>
              </a:defRPr>
            </a:lvl1pPr>
            <a:lvl2pPr indent="-320040" lvl="1" marL="914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2" type="body"/>
          </p:nvPr>
        </p:nvSpPr>
        <p:spPr>
          <a:xfrm>
            <a:off x="533400" y="4766735"/>
            <a:ext cx="6382360" cy="1253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 rot="5400000">
            <a:off x="1926999" y="-860197"/>
            <a:ext cx="3767670" cy="6554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 rot="5400000">
            <a:off x="5378703" y="1721103"/>
            <a:ext cx="4419600" cy="20441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 rot="5400000">
            <a:off x="715206" y="351594"/>
            <a:ext cx="5486400" cy="585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7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7" name="Google Shape;7;p7"/>
            <p:cNvCxnSpPr/>
            <p:nvPr/>
          </p:nvCxnSpPr>
          <p:spPr>
            <a:xfrm flipH="1">
              <a:off x="8756120" y="3259666"/>
              <a:ext cx="912814" cy="912812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7"/>
            <p:cNvCxnSpPr/>
            <p:nvPr/>
          </p:nvCxnSpPr>
          <p:spPr>
            <a:xfrm flipH="1">
              <a:off x="6687077" y="3486677"/>
              <a:ext cx="2981857" cy="298185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" name="Google Shape;9;p7"/>
            <p:cNvCxnSpPr/>
            <p:nvPr/>
          </p:nvCxnSpPr>
          <p:spPr>
            <a:xfrm flipH="1">
              <a:off x="7772400" y="3581400"/>
              <a:ext cx="1896534" cy="1896533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" name="Google Shape;10;p7"/>
            <p:cNvCxnSpPr/>
            <p:nvPr/>
          </p:nvCxnSpPr>
          <p:spPr>
            <a:xfrm flipH="1">
              <a:off x="7923214" y="3433394"/>
              <a:ext cx="1739738" cy="173974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" name="Google Shape;11;p7"/>
            <p:cNvCxnSpPr/>
            <p:nvPr/>
          </p:nvCxnSpPr>
          <p:spPr>
            <a:xfrm flipH="1">
              <a:off x="8398935" y="3985317"/>
              <a:ext cx="1264017" cy="1264016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" name="Google Shape;12;p7"/>
          <p:cNvSpPr txBox="1"/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i="0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▶"/>
              <a:defRPr b="0" i="0" sz="20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 txBox="1"/>
          <p:nvPr>
            <p:ph type="ctrTitle"/>
          </p:nvPr>
        </p:nvSpPr>
        <p:spPr>
          <a:xfrm>
            <a:off x="533400" y="533400"/>
            <a:ext cx="6154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</a:pPr>
            <a:r>
              <a:rPr lang="es-MX" sz="4400"/>
              <a:t>CALIDAD DEL SOFTWARE</a:t>
            </a:r>
            <a:endParaRPr/>
          </a:p>
        </p:txBody>
      </p:sp>
      <p:sp>
        <p:nvSpPr>
          <p:cNvPr id="141" name="Google Shape;141;p1"/>
          <p:cNvSpPr txBox="1"/>
          <p:nvPr>
            <p:ph idx="1" type="subTitle"/>
          </p:nvPr>
        </p:nvSpPr>
        <p:spPr>
          <a:xfrm>
            <a:off x="533400" y="3843867"/>
            <a:ext cx="5181600" cy="2311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MX"/>
              <a:t>Deiby Forero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MX"/>
              <a:t>Miguel Ballesteros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MX"/>
              <a:t>Juan rodriguez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MX"/>
              <a:t>Jose angel videz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MX"/>
              <a:t>Juan diego garcia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"/>
          <p:cNvSpPr txBox="1"/>
          <p:nvPr>
            <p:ph type="title"/>
          </p:nvPr>
        </p:nvSpPr>
        <p:spPr>
          <a:xfrm>
            <a:off x="592666" y="5418667"/>
            <a:ext cx="8246533" cy="123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s-MX"/>
              <a:t>INTRODUCCIÓN Y DEFINICIÓN DE CALIDAD DEL SOFTWARE</a:t>
            </a:r>
            <a:endParaRPr/>
          </a:p>
        </p:txBody>
      </p:sp>
      <p:sp>
        <p:nvSpPr>
          <p:cNvPr id="147" name="Google Shape;147;p2"/>
          <p:cNvSpPr txBox="1"/>
          <p:nvPr>
            <p:ph idx="1" type="body"/>
          </p:nvPr>
        </p:nvSpPr>
        <p:spPr>
          <a:xfrm>
            <a:off x="474133" y="203199"/>
            <a:ext cx="8365066" cy="4645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55000" lnSpcReduction="2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Definición</a:t>
            </a:r>
            <a:endParaRPr/>
          </a:p>
          <a:p>
            <a:pPr indent="-285750" lvl="0" marL="285750" rtl="0" algn="l">
              <a:spcBef>
                <a:spcPts val="82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s-MX"/>
              <a:t>La </a:t>
            </a:r>
            <a:r>
              <a:rPr b="1" lang="es-MX"/>
              <a:t>calidad del software</a:t>
            </a:r>
            <a:r>
              <a:rPr lang="es-MX"/>
              <a:t> es el conjunto de atributos que determinan en qué grado un software cumple con:</a:t>
            </a:r>
            <a:endParaRPr/>
          </a:p>
          <a:p>
            <a:pPr indent="-285750" lvl="1" marL="742950" rtl="0" algn="l">
              <a:spcBef>
                <a:spcPts val="798"/>
              </a:spcBef>
              <a:spcAft>
                <a:spcPts val="0"/>
              </a:spcAft>
              <a:buSzPct val="79999"/>
              <a:buFont typeface="Arial"/>
              <a:buChar char="•"/>
            </a:pPr>
            <a:r>
              <a:rPr lang="es-MX"/>
              <a:t>Los </a:t>
            </a:r>
            <a:r>
              <a:rPr b="1" lang="es-MX"/>
              <a:t>requisitos especificados</a:t>
            </a:r>
            <a:r>
              <a:rPr lang="es-MX"/>
              <a:t> (lo que se pidió en el contrato o en las historias de usuario).</a:t>
            </a:r>
            <a:endParaRPr/>
          </a:p>
          <a:p>
            <a:pPr indent="-285750" lvl="1" marL="742950" rtl="0" algn="l">
              <a:spcBef>
                <a:spcPts val="798"/>
              </a:spcBef>
              <a:spcAft>
                <a:spcPts val="0"/>
              </a:spcAft>
              <a:buSzPct val="79999"/>
              <a:buFont typeface="Arial"/>
              <a:buChar char="•"/>
            </a:pPr>
            <a:r>
              <a:rPr lang="es-MX"/>
              <a:t>Las </a:t>
            </a:r>
            <a:r>
              <a:rPr b="1" lang="es-MX"/>
              <a:t>necesidades implícitas</a:t>
            </a:r>
            <a:r>
              <a:rPr lang="es-MX"/>
              <a:t> (lo que el usuario espera aunque no esté escrito: seguridad, rapidez, usabilidad).</a:t>
            </a:r>
            <a:endParaRPr/>
          </a:p>
          <a:p>
            <a:pPr indent="-285750" lvl="0" marL="285750" rtl="0" algn="l">
              <a:spcBef>
                <a:spcPts val="82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 Dimensiones de la calidad</a:t>
            </a:r>
            <a:endParaRPr/>
          </a:p>
          <a:p>
            <a:pPr indent="-285750" lvl="0" marL="285750" rtl="0" algn="l">
              <a:spcBef>
                <a:spcPts val="82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1" lang="es-MX"/>
              <a:t>Funcionalidad:</a:t>
            </a:r>
            <a:r>
              <a:rPr lang="es-MX"/>
              <a:t> ¿el software hace lo que debe?</a:t>
            </a:r>
            <a:endParaRPr/>
          </a:p>
          <a:p>
            <a:pPr indent="-285750" lvl="0" marL="285750" rtl="0" algn="l">
              <a:spcBef>
                <a:spcPts val="82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1" lang="es-MX"/>
              <a:t>Confiabilidad:</a:t>
            </a:r>
            <a:r>
              <a:rPr lang="es-MX"/>
              <a:t> ¿funciona de manera estable sin errores frecuentes?</a:t>
            </a:r>
            <a:endParaRPr/>
          </a:p>
          <a:p>
            <a:pPr indent="-285750" lvl="0" marL="285750" rtl="0" algn="l">
              <a:spcBef>
                <a:spcPts val="82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1" lang="es-MX"/>
              <a:t>Usabilidad:</a:t>
            </a:r>
            <a:r>
              <a:rPr lang="es-MX"/>
              <a:t> ¿es fácil de aprender y utilizar?</a:t>
            </a:r>
            <a:endParaRPr/>
          </a:p>
          <a:p>
            <a:pPr indent="-285750" lvl="0" marL="285750" rtl="0" algn="l">
              <a:spcBef>
                <a:spcPts val="82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1" lang="es-MX"/>
              <a:t>Eficiencia:</a:t>
            </a:r>
            <a:r>
              <a:rPr lang="es-MX"/>
              <a:t> ¿usa bien los recursos (tiempo, memoria, batería)?</a:t>
            </a:r>
            <a:endParaRPr/>
          </a:p>
          <a:p>
            <a:pPr indent="-285750" lvl="0" marL="285750" rtl="0" algn="l">
              <a:spcBef>
                <a:spcPts val="82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1" lang="es-MX"/>
              <a:t>Mantenibilidad:</a:t>
            </a:r>
            <a:r>
              <a:rPr lang="es-MX"/>
              <a:t> ¿puede corregirse o actualizarse fácilmente?</a:t>
            </a:r>
            <a:endParaRPr/>
          </a:p>
          <a:p>
            <a:pPr indent="-285750" lvl="0" marL="285750" rtl="0" algn="l">
              <a:spcBef>
                <a:spcPts val="82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1" lang="es-MX"/>
              <a:t>Portabilidad:</a:t>
            </a:r>
            <a:r>
              <a:rPr lang="es-MX"/>
              <a:t> ¿funciona en diferentes entornos y dispositivos?</a:t>
            </a:r>
            <a:endParaRPr/>
          </a:p>
          <a:p>
            <a:pPr indent="-285750" lvl="0" marL="285750" rtl="0" algn="l">
              <a:spcBef>
                <a:spcPts val="82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 Ejemplo práctico</a:t>
            </a:r>
            <a:endParaRPr/>
          </a:p>
          <a:p>
            <a:pPr indent="-285750" lvl="0" marL="285750" rtl="0" algn="l">
              <a:spcBef>
                <a:spcPts val="82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s-MX"/>
              <a:t>Una app bancaria debe:</a:t>
            </a:r>
            <a:endParaRPr/>
          </a:p>
          <a:p>
            <a:pPr indent="-285750" lvl="1" marL="742950" rtl="0" algn="l">
              <a:spcBef>
                <a:spcPts val="798"/>
              </a:spcBef>
              <a:spcAft>
                <a:spcPts val="0"/>
              </a:spcAft>
              <a:buSzPct val="79999"/>
              <a:buFont typeface="Arial"/>
              <a:buChar char="•"/>
            </a:pPr>
            <a:r>
              <a:rPr lang="es-MX"/>
              <a:t>Procesar pagos (funcionalidad).</a:t>
            </a:r>
            <a:endParaRPr/>
          </a:p>
          <a:p>
            <a:pPr indent="-285750" lvl="1" marL="742950" rtl="0" algn="l">
              <a:spcBef>
                <a:spcPts val="798"/>
              </a:spcBef>
              <a:spcAft>
                <a:spcPts val="0"/>
              </a:spcAft>
              <a:buSzPct val="79999"/>
              <a:buFont typeface="Arial"/>
              <a:buChar char="•"/>
            </a:pPr>
            <a:r>
              <a:rPr lang="es-MX"/>
              <a:t>No caerse durante una transacción (confiabilidad).</a:t>
            </a:r>
            <a:endParaRPr/>
          </a:p>
          <a:p>
            <a:pPr indent="-285750" lvl="1" marL="742950" rtl="0" algn="l">
              <a:spcBef>
                <a:spcPts val="798"/>
              </a:spcBef>
              <a:spcAft>
                <a:spcPts val="0"/>
              </a:spcAft>
              <a:buSzPct val="79999"/>
              <a:buFont typeface="Arial"/>
              <a:buChar char="•"/>
            </a:pPr>
            <a:r>
              <a:rPr lang="es-MX"/>
              <a:t>Ser fácil de entender incluso para personas no expertas en tecnología (usabilidad).</a:t>
            </a:r>
            <a:endParaRPr/>
          </a:p>
          <a:p>
            <a:pPr indent="-285750" lvl="1" marL="742950" rtl="0" algn="l">
              <a:spcBef>
                <a:spcPts val="798"/>
              </a:spcBef>
              <a:spcAft>
                <a:spcPts val="0"/>
              </a:spcAft>
              <a:buSzPct val="79999"/>
              <a:buFont typeface="Arial"/>
              <a:buChar char="•"/>
            </a:pPr>
            <a:r>
              <a:rPr lang="es-MX"/>
              <a:t>No consumir demasiada batería (eficiencia).</a:t>
            </a:r>
            <a:endParaRPr/>
          </a:p>
          <a:p>
            <a:pPr indent="-285750" lvl="1" marL="742950" rtl="0" algn="l">
              <a:spcBef>
                <a:spcPts val="798"/>
              </a:spcBef>
              <a:spcAft>
                <a:spcPts val="0"/>
              </a:spcAft>
              <a:buSzPct val="79999"/>
              <a:buFont typeface="Arial"/>
              <a:buChar char="•"/>
            </a:pPr>
            <a:r>
              <a:rPr lang="es-MX"/>
              <a:t>Poder actualizarse para integrar nuevas funciones (mantenibilidad).</a:t>
            </a:r>
            <a:endParaRPr/>
          </a:p>
          <a:p>
            <a:pPr indent="-285750" lvl="1" marL="742950" rtl="0" algn="l">
              <a:spcBef>
                <a:spcPts val="798"/>
              </a:spcBef>
              <a:spcAft>
                <a:spcPts val="0"/>
              </a:spcAft>
              <a:buSzPct val="79999"/>
              <a:buFont typeface="Arial"/>
              <a:buChar char="•"/>
            </a:pPr>
            <a:r>
              <a:rPr lang="es-MX"/>
              <a:t>Funcionar tanto en Android como en iOS (portabilidad)</a:t>
            </a:r>
            <a:endParaRPr/>
          </a:p>
        </p:txBody>
      </p:sp>
      <p:sp>
        <p:nvSpPr>
          <p:cNvPr id="148" name="Google Shape;148;p2"/>
          <p:cNvSpPr txBox="1"/>
          <p:nvPr/>
        </p:nvSpPr>
        <p:spPr>
          <a:xfrm>
            <a:off x="795867" y="4478866"/>
            <a:ext cx="6554867" cy="1727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94309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F486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474133" y="4848536"/>
            <a:ext cx="7874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calidad no es un “extra”: es un </a:t>
            </a:r>
            <a:r>
              <a:rPr b="1" i="0" lang="es-MX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requisito esencial</a:t>
            </a:r>
            <a:r>
              <a:rPr b="0" i="0" lang="es-MX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que determina si un software tendrá éxito o fracaso.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>
            <p:ph type="title"/>
          </p:nvPr>
        </p:nvSpPr>
        <p:spPr>
          <a:xfrm>
            <a:off x="533400" y="5545666"/>
            <a:ext cx="6554867" cy="1236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s-MX"/>
              <a:t>IMPORTANCIA DE LA CALIDAD DEL SOFTWARE</a:t>
            </a:r>
            <a:endParaRPr/>
          </a:p>
        </p:txBody>
      </p:sp>
      <p:sp>
        <p:nvSpPr>
          <p:cNvPr id="155" name="Google Shape;155;p3"/>
          <p:cNvSpPr txBox="1"/>
          <p:nvPr>
            <p:ph idx="1" type="body"/>
          </p:nvPr>
        </p:nvSpPr>
        <p:spPr>
          <a:xfrm>
            <a:off x="533400" y="76201"/>
            <a:ext cx="8136467" cy="4823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Beneficios principales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Century Gothic"/>
              <a:buAutoNum type="arabicPeriod"/>
            </a:pPr>
            <a:r>
              <a:rPr b="1" lang="es-MX"/>
              <a:t>Satisfacción del usuario:</a:t>
            </a:r>
            <a:r>
              <a:rPr lang="es-MX"/>
              <a:t> un software que funciona bien y es fácil de usar genera confianza.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Century Gothic"/>
              <a:buAutoNum type="arabicPeriod"/>
            </a:pPr>
            <a:r>
              <a:rPr b="1" lang="es-MX"/>
              <a:t>Reducción de costos:</a:t>
            </a:r>
            <a:r>
              <a:rPr lang="es-MX"/>
              <a:t> corregir errores en producción cuesta hasta 100 veces más que detectarlos en desarrollo.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Century Gothic"/>
              <a:buAutoNum type="arabicPeriod"/>
            </a:pPr>
            <a:r>
              <a:rPr b="1" lang="es-MX"/>
              <a:t>Confiabilidad del sistema:</a:t>
            </a:r>
            <a:r>
              <a:rPr lang="es-MX"/>
              <a:t> evita fallos que pueden afectar miles de usuarios.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Century Gothic"/>
              <a:buAutoNum type="arabicPeriod"/>
            </a:pPr>
            <a:r>
              <a:rPr b="1" lang="es-MX"/>
              <a:t>Competitividad:</a:t>
            </a:r>
            <a:r>
              <a:rPr lang="es-MX"/>
              <a:t> en un mercado con muchas opciones, la calidad es lo que hace que un producto destaque.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Century Gothic"/>
              <a:buAutoNum type="arabicPeriod"/>
            </a:pPr>
            <a:r>
              <a:rPr b="1" lang="es-MX"/>
              <a:t>Escalabilidad:</a:t>
            </a:r>
            <a:r>
              <a:rPr lang="es-MX"/>
              <a:t> un software bien hecho se puede ampliar fácilmente sin tener que rehacerlo.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 Ejemplo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s-MX"/>
              <a:t>Una tienda online con errores en el carrito de compras perderá clientes y dinero.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s-MX"/>
              <a:t>Una app de transporte como Uber debe mantener estabilidad y confianza, porque un error afecta la seguridad del usuario.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 Impacto negativo de la baja calidad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s-MX"/>
              <a:t>Pérdida de clientes.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s-MX"/>
              <a:t>Aumento de reclamos.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s-MX"/>
              <a:t>Deterioro de la reputación de la empresa.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s-MX"/>
              <a:t>Mayores gastos en soporte técnico.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474133" y="4899335"/>
            <a:ext cx="7874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calidad es una inversión, no un gasto: garantiza éxito a largo plazo y reduce problemas futuros.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>
            <p:ph type="title"/>
          </p:nvPr>
        </p:nvSpPr>
        <p:spPr>
          <a:xfrm>
            <a:off x="702733" y="5799667"/>
            <a:ext cx="8034867" cy="1015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s-MX"/>
              <a:t>MODELOS DE CALIDAD DEL SOFTWARE</a:t>
            </a:r>
            <a:endParaRPr/>
          </a:p>
        </p:txBody>
      </p:sp>
      <p:sp>
        <p:nvSpPr>
          <p:cNvPr id="162" name="Google Shape;162;p4"/>
          <p:cNvSpPr txBox="1"/>
          <p:nvPr>
            <p:ph idx="1" type="body"/>
          </p:nvPr>
        </p:nvSpPr>
        <p:spPr>
          <a:xfrm>
            <a:off x="474133" y="67734"/>
            <a:ext cx="8348134" cy="5393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Modelos históricos y actuales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Century Gothic"/>
              <a:buAutoNum type="arabicPeriod"/>
            </a:pPr>
            <a:r>
              <a:rPr b="1" lang="es-MX"/>
              <a:t>McCall (1977):</a:t>
            </a:r>
            <a:endParaRPr/>
          </a:p>
          <a:p>
            <a:pPr indent="-285750" lvl="1" marL="742950" rtl="0" algn="l">
              <a:spcBef>
                <a:spcPts val="825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lang="es-MX"/>
              <a:t>Organiza la calidad en factores externos, criterios internos y métricas.</a:t>
            </a:r>
            <a:endParaRPr/>
          </a:p>
          <a:p>
            <a:pPr indent="-285750" lvl="1" marL="742950" rtl="0" algn="l">
              <a:spcBef>
                <a:spcPts val="825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lang="es-MX"/>
              <a:t>Ejemplo: medir la fiabilidad contando cuántas veces falla el sistema en cierto tiempo.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Century Gothic"/>
              <a:buAutoNum type="arabicPeriod"/>
            </a:pPr>
            <a:r>
              <a:rPr b="1" lang="es-MX"/>
              <a:t>Boehm (1978):</a:t>
            </a:r>
            <a:endParaRPr/>
          </a:p>
          <a:p>
            <a:pPr indent="-285750" lvl="1" marL="742950" rtl="0" algn="l">
              <a:spcBef>
                <a:spcPts val="825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lang="es-MX"/>
              <a:t>Calidad interna → código bien estructurado.</a:t>
            </a:r>
            <a:endParaRPr/>
          </a:p>
          <a:p>
            <a:pPr indent="-285750" lvl="1" marL="742950" rtl="0" algn="l">
              <a:spcBef>
                <a:spcPts val="825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lang="es-MX"/>
              <a:t>Calidad externa → cómo se comporta el software al ejecutarse.</a:t>
            </a:r>
            <a:endParaRPr/>
          </a:p>
          <a:p>
            <a:pPr indent="-285750" lvl="1" marL="742950" rtl="0" algn="l">
              <a:spcBef>
                <a:spcPts val="825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lang="es-MX"/>
              <a:t>Calidad en uso → la experiencia del usuario.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Century Gothic"/>
              <a:buAutoNum type="arabicPeriod"/>
            </a:pPr>
            <a:r>
              <a:rPr b="1" lang="es-MX"/>
              <a:t>ISO/IEC 9126:</a:t>
            </a:r>
            <a:endParaRPr/>
          </a:p>
          <a:p>
            <a:pPr indent="-285750" lvl="1" marL="742950" rtl="0" algn="l">
              <a:spcBef>
                <a:spcPts val="825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lang="es-MX"/>
              <a:t>Primer estándar internacional.</a:t>
            </a:r>
            <a:endParaRPr/>
          </a:p>
          <a:p>
            <a:pPr indent="-285750" lvl="1" marL="742950" rtl="0" algn="l">
              <a:spcBef>
                <a:spcPts val="825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lang="es-MX"/>
              <a:t>Define 6 características básicas: funcionalidad, fiabilidad, usabilidad, eficiencia, mantenibilidad, portabilidad.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Century Gothic"/>
              <a:buAutoNum type="arabicPeriod"/>
            </a:pPr>
            <a:r>
              <a:rPr b="1" lang="es-MX"/>
              <a:t>ISO/IEC 25010:</a:t>
            </a:r>
            <a:endParaRPr/>
          </a:p>
          <a:p>
            <a:pPr indent="-285750" lvl="1" marL="742950" rtl="0" algn="l">
              <a:spcBef>
                <a:spcPts val="825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lang="es-MX"/>
              <a:t>Actual estándar.</a:t>
            </a:r>
            <a:endParaRPr/>
          </a:p>
          <a:p>
            <a:pPr indent="-285750" lvl="1" marL="742950" rtl="0" algn="l">
              <a:spcBef>
                <a:spcPts val="825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lang="es-MX"/>
              <a:t>Amplía a 8 características: funcionalidad, rendimiento, compatibilidad, usabilidad, fiabilidad, seguridad, mantenibilidad y portabilidad.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 Ejemplo aplicado</a:t>
            </a:r>
            <a:endParaRPr/>
          </a:p>
          <a:p>
            <a:pPr indent="-285750" lvl="0" marL="285750" rtl="0" algn="l">
              <a:spcBef>
                <a:spcPts val="85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s-MX"/>
              <a:t>En un videojuego:</a:t>
            </a:r>
            <a:endParaRPr/>
          </a:p>
          <a:p>
            <a:pPr indent="-285750" lvl="1" marL="742950" rtl="0" algn="l">
              <a:spcBef>
                <a:spcPts val="825"/>
              </a:spcBef>
              <a:spcAft>
                <a:spcPts val="0"/>
              </a:spcAft>
              <a:buSzPct val="79999"/>
              <a:buFont typeface="Arial"/>
              <a:buChar char="•"/>
            </a:pPr>
            <a:r>
              <a:rPr lang="es-MX"/>
              <a:t>Si no tiene bugs → confiabilidad.</a:t>
            </a:r>
            <a:endParaRPr/>
          </a:p>
          <a:p>
            <a:pPr indent="-285750" lvl="1" marL="742950" rtl="0" algn="l">
              <a:spcBef>
                <a:spcPts val="825"/>
              </a:spcBef>
              <a:spcAft>
                <a:spcPts val="0"/>
              </a:spcAft>
              <a:buSzPct val="79999"/>
              <a:buFont typeface="Arial"/>
              <a:buChar char="•"/>
            </a:pPr>
            <a:r>
              <a:rPr lang="es-MX"/>
              <a:t>Si carga rápido → eficiencia.</a:t>
            </a:r>
            <a:endParaRPr/>
          </a:p>
          <a:p>
            <a:pPr indent="-285750" lvl="1" marL="742950" rtl="0" algn="l">
              <a:spcBef>
                <a:spcPts val="825"/>
              </a:spcBef>
              <a:spcAft>
                <a:spcPts val="0"/>
              </a:spcAft>
              <a:buSzPct val="79999"/>
              <a:buFont typeface="Arial"/>
              <a:buChar char="•"/>
            </a:pPr>
            <a:r>
              <a:rPr lang="es-MX"/>
              <a:t>Si funciona en PC y consola → portabilidad.</a:t>
            </a:r>
            <a:endParaRPr/>
          </a:p>
          <a:p>
            <a:pPr indent="-285750" lvl="1" marL="742950" rtl="0" algn="l">
              <a:spcBef>
                <a:spcPts val="825"/>
              </a:spcBef>
              <a:spcAft>
                <a:spcPts val="0"/>
              </a:spcAft>
              <a:buSzPct val="79999"/>
              <a:buFont typeface="Arial"/>
              <a:buChar char="•"/>
            </a:pPr>
            <a:r>
              <a:rPr lang="es-MX"/>
              <a:t>Si protege datos de usuarios → seguridad.</a:t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474133" y="5376333"/>
            <a:ext cx="83481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 modelos no son teoría abstracta, son </a:t>
            </a:r>
            <a:r>
              <a:rPr b="1" i="0" lang="es-MX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guías prácticas</a:t>
            </a:r>
            <a:r>
              <a:rPr b="0" i="0" lang="es-MX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evaluar y mejorar la calidad de cualquier software.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>
            <p:ph type="title"/>
          </p:nvPr>
        </p:nvSpPr>
        <p:spPr>
          <a:xfrm>
            <a:off x="533399" y="5460999"/>
            <a:ext cx="8517467" cy="1227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s-MX"/>
              <a:t>TIPOS DE MODELOS Y NORMAS QUE REGULAN LA CALIDAD DEL SOFTWARE</a:t>
            </a:r>
            <a:endParaRPr/>
          </a:p>
        </p:txBody>
      </p:sp>
      <p:sp>
        <p:nvSpPr>
          <p:cNvPr id="169" name="Google Shape;169;p5"/>
          <p:cNvSpPr txBox="1"/>
          <p:nvPr>
            <p:ph idx="1" type="body"/>
          </p:nvPr>
        </p:nvSpPr>
        <p:spPr>
          <a:xfrm>
            <a:off x="533400" y="76200"/>
            <a:ext cx="8111067" cy="4738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Tipos de modelos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Font typeface="Century Gothic"/>
              <a:buAutoNum type="arabicPeriod"/>
            </a:pPr>
            <a:r>
              <a:rPr b="1" lang="es-MX"/>
              <a:t>Centrados en el producto:</a:t>
            </a:r>
            <a:endParaRPr/>
          </a:p>
          <a:p>
            <a:pPr indent="-285750" lvl="1" marL="742950" rtl="0" algn="l">
              <a:spcBef>
                <a:spcPts val="879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lang="es-MX"/>
              <a:t>Ejemplo: ISO/IEC 25010 evalúa el software ya terminado.</a:t>
            </a:r>
            <a:endParaRPr/>
          </a:p>
          <a:p>
            <a:pPr indent="-285750" lvl="1" marL="742950" rtl="0" algn="l">
              <a:spcBef>
                <a:spcPts val="879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lang="es-MX"/>
              <a:t>Mide si es confiable, seguro, fácil de usar, etc.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Font typeface="Century Gothic"/>
              <a:buAutoNum type="arabicPeriod"/>
            </a:pPr>
            <a:r>
              <a:rPr b="1" lang="es-MX"/>
              <a:t>Centrados en el proceso:</a:t>
            </a:r>
            <a:endParaRPr/>
          </a:p>
          <a:p>
            <a:pPr indent="-285750" lvl="1" marL="742950" rtl="0" algn="l">
              <a:spcBef>
                <a:spcPts val="879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lang="es-MX"/>
              <a:t>Ejemplo: </a:t>
            </a:r>
            <a:r>
              <a:rPr b="1" lang="es-MX"/>
              <a:t>CMMI</a:t>
            </a:r>
            <a:r>
              <a:rPr lang="es-MX"/>
              <a:t> evalúa cómo trabaja la organización en sus proyectos.</a:t>
            </a:r>
            <a:endParaRPr/>
          </a:p>
          <a:p>
            <a:pPr indent="-285750" lvl="1" marL="742950" rtl="0" algn="l">
              <a:spcBef>
                <a:spcPts val="879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b="1" lang="es-MX"/>
              <a:t>Six Sigma</a:t>
            </a:r>
            <a:r>
              <a:rPr lang="es-MX"/>
              <a:t> busca reducir defectos en el proceso de desarrollo.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 Normas internacionales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1" lang="es-MX"/>
              <a:t>ISO/IEC 25010:</a:t>
            </a:r>
            <a:r>
              <a:rPr lang="es-MX"/>
              <a:t> evalúa la calidad del producto.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1" lang="es-MX"/>
              <a:t>ISO/IEC 12207:</a:t>
            </a:r>
            <a:r>
              <a:rPr lang="es-MX"/>
              <a:t> regula procesos del ciclo de vida del software.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1" lang="es-MX"/>
              <a:t>IEEE 829 (29119):</a:t>
            </a:r>
            <a:r>
              <a:rPr lang="es-MX"/>
              <a:t> documentación de pruebas de software.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1" lang="es-MX"/>
              <a:t>ISO 9001:</a:t>
            </a:r>
            <a:r>
              <a:rPr lang="es-MX"/>
              <a:t> certificación de calidad aplicable a empresas en general.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 Ejemplo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s-MX"/>
              <a:t>Una empresa que certifica sus procesos con ISO 9001 puede vender software en mercados internacionales porque transmite confianza y seriedad.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397933" y="4814668"/>
            <a:ext cx="83481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 tipos de modelos y normas trabajan juntos: el </a:t>
            </a:r>
            <a:r>
              <a:rPr b="1" i="0" lang="es-MX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 evalúa</a:t>
            </a:r>
            <a:r>
              <a:rPr b="0" i="0" lang="es-MX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la </a:t>
            </a:r>
            <a:r>
              <a:rPr b="1" i="0" lang="es-MX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norma regula y certifica</a:t>
            </a:r>
            <a:r>
              <a:rPr b="0" i="0" lang="es-MX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 txBox="1"/>
          <p:nvPr>
            <p:ph type="title"/>
          </p:nvPr>
        </p:nvSpPr>
        <p:spPr>
          <a:xfrm>
            <a:off x="533400" y="5397263"/>
            <a:ext cx="8906933" cy="1227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s-MX"/>
              <a:t>HERRAMIENTAS DE GESTIÓN DE CALIDAD + EJEMPLO DEL PROYECTO</a:t>
            </a:r>
            <a:endParaRPr/>
          </a:p>
        </p:txBody>
      </p:sp>
      <p:sp>
        <p:nvSpPr>
          <p:cNvPr id="176" name="Google Shape;176;p6"/>
          <p:cNvSpPr txBox="1"/>
          <p:nvPr>
            <p:ph idx="1" type="body"/>
          </p:nvPr>
        </p:nvSpPr>
        <p:spPr>
          <a:xfrm>
            <a:off x="533400" y="76199"/>
            <a:ext cx="8373533" cy="4960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Herramientas más utilizadas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1" lang="es-MX"/>
              <a:t>SonarQube:</a:t>
            </a:r>
            <a:r>
              <a:rPr lang="es-MX"/>
              <a:t> analiza el código y detecta errores.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1" lang="es-MX"/>
              <a:t>Jira / Trello:</a:t>
            </a:r>
            <a:r>
              <a:rPr lang="es-MX"/>
              <a:t> gestionan proyectos, tareas e incidencias.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b="1" lang="es-MX"/>
              <a:t>Selenium / TestRail:</a:t>
            </a:r>
            <a:r>
              <a:rPr lang="es-MX"/>
              <a:t> automatizan pruebas y gestionan casos de prueba.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 Ejemplo aplicado 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Google Forms:</a:t>
            </a:r>
            <a:endParaRPr/>
          </a:p>
          <a:p>
            <a:pPr indent="-285750" lvl="1" marL="742950" rtl="0" algn="l">
              <a:spcBef>
                <a:spcPts val="879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lang="es-MX"/>
              <a:t>Se creó una encuesta basada en </a:t>
            </a:r>
            <a:r>
              <a:rPr b="1" lang="es-MX"/>
              <a:t>ISO 25010</a:t>
            </a:r>
            <a:r>
              <a:rPr lang="es-MX"/>
              <a:t> para medir la percepción de los usuarios sobre la calidad del software.</a:t>
            </a:r>
            <a:endParaRPr/>
          </a:p>
          <a:p>
            <a:pPr indent="-285750" lvl="1" marL="742950" rtl="0" algn="l">
              <a:spcBef>
                <a:spcPts val="879"/>
              </a:spcBef>
              <a:spcAft>
                <a:spcPts val="0"/>
              </a:spcAft>
              <a:buSzPct val="79999"/>
              <a:buFont typeface="Century Gothic"/>
              <a:buAutoNum type="arabicPeriod"/>
            </a:pPr>
            <a:r>
              <a:rPr lang="es-MX"/>
              <a:t>Se preguntó sobre facilidad de uso, confiabilidad, eficiencia, etc.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Font typeface="Century Gothic"/>
              <a:buAutoNum type="arabicPeriod"/>
            </a:pPr>
            <a:r>
              <a:rPr b="1" lang="es-MX"/>
              <a:t>Excel:</a:t>
            </a:r>
            <a:endParaRPr/>
          </a:p>
          <a:p>
            <a:pPr indent="-285750" lvl="1" marL="742950" rtl="0" algn="l">
              <a:spcBef>
                <a:spcPts val="879"/>
              </a:spcBef>
              <a:spcAft>
                <a:spcPts val="0"/>
              </a:spcAft>
              <a:buSzPct val="79999"/>
              <a:buFont typeface="Century Gothic"/>
              <a:buAutoNum type="arabicPeriod" startAt="2"/>
            </a:pPr>
            <a:r>
              <a:rPr lang="es-MX"/>
              <a:t>Se exportaron los resultados de Google Forms a Excel.</a:t>
            </a:r>
            <a:endParaRPr/>
          </a:p>
          <a:p>
            <a:pPr indent="-285750" lvl="1" marL="742950" rtl="0" algn="l">
              <a:spcBef>
                <a:spcPts val="879"/>
              </a:spcBef>
              <a:spcAft>
                <a:spcPts val="0"/>
              </a:spcAft>
              <a:buSzPct val="79999"/>
              <a:buFont typeface="Century Gothic"/>
              <a:buAutoNum type="arabicPeriod" startAt="2"/>
            </a:pPr>
            <a:r>
              <a:rPr lang="es-MX"/>
              <a:t>Se generaron </a:t>
            </a:r>
            <a:r>
              <a:rPr b="1" lang="es-MX"/>
              <a:t>gráficas</a:t>
            </a:r>
            <a:r>
              <a:rPr lang="es-MX"/>
              <a:t> que mostraron los votos de cada pregunta.</a:t>
            </a:r>
            <a:endParaRPr/>
          </a:p>
          <a:p>
            <a:pPr indent="-285750" lvl="1" marL="742950" rtl="0" algn="l">
              <a:spcBef>
                <a:spcPts val="879"/>
              </a:spcBef>
              <a:spcAft>
                <a:spcPts val="0"/>
              </a:spcAft>
              <a:buSzPct val="79999"/>
              <a:buFont typeface="Century Gothic"/>
              <a:buAutoNum type="arabicPeriod" startAt="2"/>
            </a:pPr>
            <a:r>
              <a:rPr lang="es-MX"/>
              <a:t>Esto permitió </a:t>
            </a:r>
            <a:r>
              <a:rPr b="1" lang="es-MX"/>
              <a:t>identificar fortalezas</a:t>
            </a:r>
            <a:r>
              <a:rPr lang="es-MX"/>
              <a:t> (ej. estabilidad del sistema) y </a:t>
            </a:r>
            <a:r>
              <a:rPr b="1" lang="es-MX"/>
              <a:t>debilidades</a:t>
            </a:r>
            <a:r>
              <a:rPr lang="es-MX"/>
              <a:t> (ej. interfaz poco intuitiva).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Char char="▶"/>
            </a:pPr>
            <a:r>
              <a:rPr b="1" lang="es-MX"/>
              <a:t> Reflexión</a:t>
            </a:r>
            <a:endParaRPr/>
          </a:p>
          <a:p>
            <a:pPr indent="-285750" lvl="0" marL="285750" rtl="0" algn="l">
              <a:spcBef>
                <a:spcPts val="910"/>
              </a:spcBef>
              <a:spcAft>
                <a:spcPts val="0"/>
              </a:spcAft>
              <a:buSzPct val="80000"/>
              <a:buFont typeface="Arial"/>
              <a:buChar char="•"/>
            </a:pPr>
            <a:r>
              <a:rPr lang="es-MX"/>
              <a:t>Aunque son herramientas simples, cumplen la función de </a:t>
            </a:r>
            <a:r>
              <a:rPr b="1" lang="es-MX"/>
              <a:t>gestionar la calidad</a:t>
            </a:r>
            <a:r>
              <a:rPr lang="es-MX"/>
              <a:t> porque convierten datos en información útil.</a:t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533400" y="5019465"/>
            <a:ext cx="7264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Las herramientas permiten </a:t>
            </a: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medir, visualizar y mejorar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la calidad.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Deiby Forero</dc:creator>
</cp:coreProperties>
</file>